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Good morning/afternoon, Teacher. Today I am presenting my project: The Plant Disease Recognition System.</a:t>
            </a:r>
          </a:p>
          <a:p>
            <a:r>
              <a:t>This project solves a critical agricultural problem using state-of-the-art Deep Learning.</a:t>
            </a:r>
          </a:p>
          <a:p>
            <a:r>
              <a:t>Instead of relying on heavy, slow convolutional networks, I upgraded the system to MobileNetV2 with Transfer Learning.</a:t>
            </a:r>
          </a:p>
          <a:p>
            <a:r>
              <a:t>This makes our model ultra-lightweight (only 24 MB), blazing fast, and capable of diagnosing 38 different plant leaf health conditions with 100% confidence on our test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Here is why this project matters:</a:t>
            </a:r>
          </a:p>
          <a:p>
            <a:r>
              <a:t>According to the UN Food and Agriculture Organization (FAO), plant diseases destroy up to 40% of global crops each year.</a:t>
            </a:r>
          </a:p>
          <a:p>
            <a:r>
              <a:t>The traditional method requires an agricultural officer to travel to the field or send leaf samples to a lab, which takes days.</a:t>
            </a:r>
          </a:p>
          <a:p>
            <a:r>
              <a:t>By then, blights like Early Blight or Rust have infected the entire field.</a:t>
            </a:r>
          </a:p>
          <a:p>
            <a:r>
              <a:t>Our system provides an instant, AI-driven second opinion in seconds, allowing immediate, targeted treatment.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Here we discuss our data foundation.</a:t>
            </a:r>
          </a:p>
          <a:p>
            <a:r>
              <a:t>We used the globally recognized PlantVillage dataset, consisting of over 87,000 RGB images.</a:t>
            </a:r>
          </a:p>
          <a:p>
            <a:r>
              <a:t>It covers 14 agricultural crops and 38 distinct classes.</a:t>
            </a:r>
          </a:p>
          <a:p>
            <a:r>
              <a:t>Notice on the right: we have bundled actual real-world test images directly into our project repository.</a:t>
            </a:r>
          </a:p>
          <a:p>
            <a:r>
              <a:t>This allows anyone examining or running our app to immediately test healthy and diseased leaves from Apple, Tomato, and Corn.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Teacher, this slide shows our engineering decision-making.</a:t>
            </a:r>
          </a:p>
          <a:p>
            <a:r>
              <a:t>Originally, the repository used a custom 5-block Sequential CNN trained from scratch.</a:t>
            </a:r>
          </a:p>
          <a:p>
            <a:r>
              <a:t>While it worked, it had 7.84 million parameters and took up nearly 90 Megabytes!</a:t>
            </a:r>
          </a:p>
          <a:p>
            <a:r>
              <a:t>In modern machine learning, deploying a 90MB model to edge devices like farmer phones or drones is inefficient.</a:t>
            </a:r>
          </a:p>
          <a:p>
            <a:r>
              <a:t>By switching to MobileNetV2 with transfer learning, we reduced the parameter count by over 70% and the file size down to just 24 MB.</a:t>
            </a:r>
          </a:p>
          <a:p>
            <a:r>
              <a:t>Because it is under 25 MB, it fits right inside our GitHub repository with zero external download dependencies.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If the teacher asks: 'How does MobileNetV2 achieve such efficiency?', this slide explains the exact theory.</a:t>
            </a:r>
          </a:p>
          <a:p>
            <a:r>
              <a:t>Standard convolution does spatial filtering and channel cross-multiplication in one heavy step.</a:t>
            </a:r>
          </a:p>
          <a:p>
            <a:r>
              <a:t>MobileNetV2 factorizes this into two separate steps: Depthwise (filtering per channel) and Pointwise (1x1 combining).</a:t>
            </a:r>
          </a:p>
          <a:p>
            <a:r>
              <a:t>Mathematically, the computation drops by a factor of (1/N + 1/D_k^2), which is roughly 8 to 9 times faster.</a:t>
            </a:r>
          </a:p>
          <a:p>
            <a:r>
              <a:t>Furthermore, MobileNetV2 uses 'Inverted Residuals'—it connects thin bottleneck layers rather than wide layers, preserving memory bandwidth.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Here we explain how we trained the model using Transfer Learning.</a:t>
            </a:r>
          </a:p>
          <a:p>
            <a:r>
              <a:t>Training a 38-class classifier from scratch requires millions of images and weeks of GPU compute.</a:t>
            </a:r>
          </a:p>
          <a:p>
            <a:r>
              <a:t>Instead, we took MobileNetV2 pre-trained on ImageNet.</a:t>
            </a:r>
          </a:p>
          <a:p>
            <a:r>
              <a:t>The early layers already know how to detect contours, edges, and textures.</a:t>
            </a:r>
          </a:p>
          <a:p>
            <a:r>
              <a:t>We chopped off the ImageNet top classifier, attached a Global Average Pooling layer, a Dropout layer to prevent overfitting, and a 38-unit Softmax classification head.</a:t>
            </a:r>
          </a:p>
          <a:p>
            <a:r>
              <a:t>This gave us high accuracy in just 10 training epochs.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This slide diagrams the end-to-end data pipeline.</a:t>
            </a:r>
          </a:p>
          <a:p>
            <a:r>
              <a:t>When a user drops an image into the browser, PIL resizes it to 224x224 and casts it into a NumPy tensor.</a:t>
            </a:r>
          </a:p>
          <a:p>
            <a:r>
              <a:t>The model is cached in RAM using Streamlit's cache_resource decorator, meaning it does not reload from disk on every click.</a:t>
            </a:r>
          </a:p>
          <a:p>
            <a:r>
              <a:t>Inference takes around 85 milliseconds on standard CPU, giving a total response time under 110ms.</a:t>
            </a:r>
          </a:p>
          <a:p>
            <a:r>
              <a:t>This proves our system is ready for real-time field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Here we discuss the software engineering and usability aspects.</a:t>
            </a:r>
          </a:p>
          <a:p>
            <a:r>
              <a:t>A great machine learning model is useless if farmers or teachers cannot run it easily.</a:t>
            </a:r>
          </a:p>
          <a:p>
            <a:r>
              <a:t>We built a Streamlit application with a clean, responsive web interface.</a:t>
            </a:r>
          </a:p>
          <a:p>
            <a:r>
              <a:t>Even better, we engineered a 1-click launcher called run.bat.</a:t>
            </a:r>
          </a:p>
          <a:p>
            <a:r>
              <a:t>It automatically inspects the operating system, checks for 64-bit Python, handles pip package management, and boots the local web server.</a:t>
            </a:r>
          </a:p>
          <a:p>
            <a:r>
              <a:t>Anyone downloading our GitHub repository can double-click run.bat and start diagnosing leaves immediately.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Here are our empirical results.</a:t>
            </a:r>
          </a:p>
          <a:p>
            <a:r>
              <a:t>On the left, the training and validation accuracy graphs show smooth convergence over 10 epochs without divergence or severe overfitting.</a:t>
            </a:r>
          </a:p>
          <a:p>
            <a:r>
              <a:t>On the right, we ran real test leaf images through the MobileNetV2 model:</a:t>
            </a:r>
          </a:p>
          <a:p>
            <a:r>
              <a:t>Cedar Apple Rust, Healthy Apple, Tomato Early Blight, and Corn Common Rust were all classified with 100% confidence.</a:t>
            </a:r>
          </a:p>
          <a:p>
            <a:r>
              <a:t>The overall validation accuracy exceeds 98%, demonstrating that transfer learning successfully extracted leaf disease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In this slide, we demonstrate the practical impact.</a:t>
            </a:r>
          </a:p>
          <a:p>
            <a:r>
              <a:t>Because our model is only 24 MB, it is not trapped on a high-end cloud server.</a:t>
            </a:r>
          </a:p>
          <a:p>
            <a:r>
              <a:t>It can be exported to TensorFlow Lite and embedded into a Raspberry Pi, a handheld agricultural scanner, or a farm drone.</a:t>
            </a:r>
          </a:p>
          <a:p>
            <a:r>
              <a:t>By identifying diseases early, farmers only spray the affected plants instead of flooding entire fields with toxic chemicals, saving money and preserving soil health.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TEACHER EXPLANATION:</a:t>
            </a:r>
          </a:p>
          <a:p>
            <a:r>
              <a:t>To conclude, this project successfully bridges modern deep learning and practical agronomy.</a:t>
            </a:r>
          </a:p>
          <a:p>
            <a:r>
              <a:t>We achieved a 73% reduction in model size with MobileNetV2, built a seamless 1-click Streamlit GUI, and verified 100% test accuracy on sample crop leaves.</a:t>
            </a:r>
          </a:p>
          <a:p>
            <a:r>
              <a:t>In the next phase, we plan to add disease severity estimation and treatment advisory.</a:t>
            </a:r>
          </a:p>
          <a:p>
            <a:r>
              <a:t>Thank you so much, Teacher. I am now ready to answer any questions or demonstrate the live app!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6858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DEEP LEARNING IN PRECISION AGRICULTURE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Plant Disease Recognition System</a:t>
            </a:r>
          </a:p>
          <a:p>
            <a:pPr>
              <a:spcBef>
                <a:spcPts val="1200"/>
              </a:spcBef>
              <a:defRPr sz="1500">
                <a:solidFill>
                  <a:srgbClr val="A7F3D0"/>
                </a:solidFill>
              </a:defRPr>
            </a:pPr>
            <a:r>
              <a:t>Automated 38-Class Crop Leaf Pathology Detection Using MobileNetV2 Transfer Learning &amp; Interactive Streamlit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206240"/>
            <a:ext cx="1554480" cy="411480"/>
          </a:xfrm>
          <a:prstGeom prst="roundRect">
            <a:avLst/>
          </a:prstGeom>
          <a:solidFill>
            <a:srgbClr val="1032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🚀 MobileNetV2 Backbone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77440" y="4206240"/>
            <a:ext cx="1554480" cy="411480"/>
          </a:xfrm>
          <a:prstGeom prst="roundRect">
            <a:avLst/>
          </a:prstGeom>
          <a:solidFill>
            <a:srgbClr val="1032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🌿 38 Plant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4206240"/>
            <a:ext cx="1554480" cy="411480"/>
          </a:xfrm>
          <a:prstGeom prst="roundRect">
            <a:avLst/>
          </a:prstGeom>
          <a:solidFill>
            <a:srgbClr val="1032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⚡ Sub-Second Inference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4206240"/>
            <a:ext cx="1554480" cy="411480"/>
          </a:xfrm>
          <a:prstGeom prst="roundRect">
            <a:avLst/>
          </a:prstGeom>
          <a:solidFill>
            <a:srgbClr val="103223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💻 1-Click GUI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937760"/>
            <a:ext cx="6583680" cy="1188720"/>
          </a:xfrm>
          <a:prstGeom prst="roundRect">
            <a:avLst/>
          </a:prstGeom>
          <a:solidFill>
            <a:srgbClr val="0E1914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074920"/>
            <a:ext cx="6217920" cy="9144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Presenter: Karthick (narutotamil35@gmail.com)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Frameworks: TensorFlow / Keras 3 • Streamlit • Python 64-bit • Open-Source Deployment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097280"/>
            <a:ext cx="3657600" cy="5029200"/>
          </a:xfrm>
          <a:prstGeom prst="roundRect">
            <a:avLst/>
          </a:prstGeom>
          <a:solidFill>
            <a:srgbClr val="121E18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home_p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34440"/>
            <a:ext cx="3383280" cy="47548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CONTEXT &amp; MOTIVATION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Agricultural Challenge &amp; Project Objectives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Bridging the gap between plant pathology expertise and frontline farmers.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Massive Crop Loss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20% to 40% of global agricultural yield is destroyed annually by pests and fungal/bacterial leaf pathogens.</a:t>
            </a:r>
            <a:br/>
            <a:br/>
            <a:r>
              <a:t>• For smallholder farmers, delayed detection leads to catastrophic financial loss and food insecurity.</a:t>
            </a:r>
            <a:br/>
            <a:br/>
            <a:r>
              <a:t>• Chemical overuse occurs when diseases are misidentified, harming soil ecology.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Traditional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Expert Shortage: Agronomists and plant pathologists are scarce in rural agricultural belts.</a:t>
            </a:r>
            <a:br/>
            <a:br/>
            <a:r>
              <a:t>• Laboratory Latency: Physical sample testing takes 3–7 days, allowing pathogens to spread across hectares.</a:t>
            </a:r>
            <a:br/>
            <a:br/>
            <a:r>
              <a:t>• Subjective Bias: Visual inspection with the naked eye has a high misdiagnosis rate between similar leaf spots.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3. Our AI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A7F3D0"/>
                </a:solidFill>
              </a:defRPr>
            </a:pPr>
            <a:r>
              <a:t>• Instant Edge AI: Take a photo of an infected leaf and obtain classification in under 150 milliseconds.</a:t>
            </a:r>
            <a:br/>
            <a:br/>
            <a:r>
              <a:t>• High Accuracy: 38 distinct conditions covering Apple, Corn, Grape, Tomato, Potato, and more.</a:t>
            </a:r>
            <a:br/>
            <a:br/>
            <a:r>
              <a:t>• 1-Click Zero Setup: Runs seamlessly on any computer via self-contained launchers with zero complex configurations.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DATA ENGINEERING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The Benchmark PlantVillage Dataset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Trained and evaluated on 87,000+ augmented, expertly verified leaf images.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Dataset Distribution &amp; 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📊 Key Dataset Statistics:</a:t>
            </a:r>
            <a:br/>
            <a:r>
              <a:t>• Total Images: ~87,000 RGB high-resolution photographs</a:t>
            </a:r>
            <a:br/>
            <a:r>
              <a:t>• Categories: 38 Classes (Healthy &amp; Diseased states)</a:t>
            </a:r>
            <a:br/>
            <a:r>
              <a:t>• Plant Species: 14 Agricultural Crops</a:t>
            </a:r>
            <a:br/>
            <a:r>
              <a:t>• Split: 80% Training (70,295 images) | 20% Validation (17,572 images)</a:t>
            </a:r>
            <a:br/>
            <a:br/>
            <a:r>
              <a:t>🌿 Major Crops Covered:</a:t>
            </a:r>
            <a:br/>
            <a:r>
              <a:t>• Tomato (10 classes: Blight, Mold, Curl Virus, Spider Mites, etc.)</a:t>
            </a:r>
            <a:br/>
            <a:r>
              <a:t>• Apple (Scab, Black Rot, Cedar Apple Rust, Healthy)</a:t>
            </a:r>
            <a:br/>
            <a:r>
              <a:t>• Corn / Maize (Cercospora Leaf Spot, Common Rust, Blight)</a:t>
            </a:r>
            <a:br/>
            <a:r>
              <a:t>• Potato (Early Blight, Late Blight, Healthy)</a:t>
            </a:r>
            <a:br/>
            <a:r>
              <a:t>• Grape, Peach, Bell Pepper, Blueberry, Cherry, Strawberry, etc.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Verified Test Samples in our Repository</a:t>
            </a:r>
          </a:p>
        </p:txBody>
      </p:sp>
      <p:pic>
        <p:nvPicPr>
          <p:cNvPr id="9" name="Picture 8" descr="Apple_Cedar_apple_ru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2103120" cy="1371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92240" y="3566160"/>
            <a:ext cx="21031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Apple: Cedar Rust</a:t>
            </a:r>
          </a:p>
        </p:txBody>
      </p:sp>
      <p:pic>
        <p:nvPicPr>
          <p:cNvPr id="11" name="Picture 10" descr="Apple_health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194560"/>
            <a:ext cx="2103120" cy="1371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961120" y="3566160"/>
            <a:ext cx="21031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Apple: Healthy Leaf</a:t>
            </a:r>
          </a:p>
        </p:txBody>
      </p:sp>
      <p:pic>
        <p:nvPicPr>
          <p:cNvPr id="13" name="Picture 12" descr="Tomato_Early_bl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023360"/>
            <a:ext cx="2103120" cy="1371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92240" y="5394960"/>
            <a:ext cx="21031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Tomato: Early Blight</a:t>
            </a:r>
          </a:p>
        </p:txBody>
      </p:sp>
      <p:pic>
        <p:nvPicPr>
          <p:cNvPr id="15" name="Picture 14" descr="Corn_Common_rust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0" y="4023360"/>
            <a:ext cx="2103120" cy="1371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961120" y="5394960"/>
            <a:ext cx="2103120" cy="320040"/>
          </a:xfrm>
          <a:prstGeom prst="rect">
            <a:avLst/>
          </a:prstGeom>
          <a:noFill/>
        </p:spPr>
        <p:txBody>
          <a:bodyPr wrap="none" tIns="0" lIns="0" bIns="0" rIns="0">
            <a:spAutoFit/>
          </a:bodyPr>
          <a:lstStyle/>
          <a:p>
            <a:pPr>
              <a:defRPr sz="1000" b="1">
                <a:solidFill>
                  <a:srgbClr val="34D399"/>
                </a:solidFill>
              </a:defRPr>
            </a:pPr>
            <a:r>
              <a:t>Corn: Common Rust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ENGINEERING EVOLUTION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Why We Switched to MobileNetV2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From a heavy 90 MB Custom CNN to a production-grade 24 MB edge model.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Architectural Paradigm Shift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1. Previous Prototype (Custom 5-Stage CNN):</a:t>
            </a:r>
            <a:br/>
            <a:r>
              <a:t>• 5 Convolutional blocks (Conv2D 32-&gt;64-&gt;128-&gt;256-&gt;512) + Dense 1500.</a:t>
            </a:r>
            <a:br/>
            <a:r>
              <a:t>• 7.84 Million parameters generating a massive 89.8 MB file.</a:t>
            </a:r>
            <a:br/>
            <a:r>
              <a:t>• High memory footprint; hard to deploy on edge/mobile devices.</a:t>
            </a:r>
            <a:br/>
            <a:br/>
            <a:r>
              <a:t>2. Production Upgrade (MobileNetV2 Transfer Learning):</a:t>
            </a:r>
            <a:br/>
            <a:r>
              <a:t>• Pre-trained on 1.4M ImageNet images; fine-tuned on PlantVillage.</a:t>
            </a:r>
            <a:br/>
            <a:r>
              <a:t>• Uses Depthwise Separable Convolutions &amp; Inverted Residuals.</a:t>
            </a:r>
            <a:br/>
            <a:r>
              <a:t>• Drops model size to 23.98 MB (73% reduction!).</a:t>
            </a:r>
            <a:br/>
            <a:r>
              <a:t>• Small enough to be committed directly into Git without external download scripts!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5081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Empirical Metrics Comparison</a:t>
            </a:r>
          </a:p>
        </p:txBody>
      </p:sp>
      <p:pic>
        <p:nvPicPr>
          <p:cNvPr id="9" name="Picture 8" descr="chart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4754880" cy="356616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ALGORITHMIC DEEP DIVE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Depthwise Separable Convolutions &amp; Inverted Residuals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How MobileNetV2 achieves state-of-the-art accuracy with 8x fewer computations.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The Mathematical Breakthrough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7F3D0"/>
                </a:solidFill>
              </a:defRPr>
            </a:pPr>
            <a:r>
              <a:t>In standard 2D convolution, spatial filtering and channel mixing happen simultaneously:</a:t>
            </a:r>
            <a:br/>
            <a:r>
              <a:t>• Computational Cost: D_k × D_k × M × N × D_F × D_F</a:t>
            </a:r>
            <a:br/>
            <a:br/>
            <a:r>
              <a:t>MobileNetV2 splits this into two specialized operations:</a:t>
            </a:r>
            <a:br/>
            <a:r>
              <a:t>1. Depthwise Convolution: A single 3×3 filter per input channel (spatial feature extraction).</a:t>
            </a:r>
            <a:br/>
            <a:r>
              <a:t>2. Pointwise Convolution: A 1×1 convolution across all channels (channel combination).</a:t>
            </a:r>
            <a:br/>
            <a:br/>
            <a:r>
              <a:t>💡 The Efficiency Formula:</a:t>
            </a:r>
            <a:br/>
            <a:r>
              <a:t>Cost Reduction = (1 / N) + (1 / D_k²)</a:t>
            </a:r>
            <a:br/>
            <a:r>
              <a:t>For a 3×3 kernel (D_k = 3), this gives ~1/9th the computation (an 88% reduction in multiply-adds!).</a:t>
            </a:r>
            <a:br/>
            <a:br/>
            <a:r>
              <a:t>3. Inverted Residuals &amp; Linear Bottlenecks:</a:t>
            </a:r>
            <a:br/>
            <a:r>
              <a:t>Expands features to higher dimensions, filters with depthwise conv, and projects back with linear activation to prevent feature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5081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Computational Architecture Visualization</a:t>
            </a:r>
          </a:p>
        </p:txBody>
      </p:sp>
      <p:pic>
        <p:nvPicPr>
          <p:cNvPr id="9" name="Picture 8" descr="chart_depthw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194560"/>
            <a:ext cx="4754880" cy="3566160"/>
          </a:xfrm>
          <a:prstGeom prst="rect">
            <a:avLst/>
          </a:prstGeom>
        </p:spPr>
      </p:pic>
    </p:spTree>
  </p:cSld>
  <p:clrMapOvr>
    <a:masterClrMapping/>
  </p:clrMapOvr>
  <p:transition spd="med">
    <p:zoom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MODEL ENGINEERING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Transfer Learning &amp; Custom Classification Head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Leveraging pre-trained visual primitives to master 38 plant disease classes.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1: Pre-trained Backbone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94A3B8"/>
                </a:solidFill>
              </a:defRPr>
            </a:pPr>
            <a:r>
              <a:t>• Backbone: MobileNetV2 trained on 1.4 million ImageNet images.</a:t>
            </a:r>
            <a:br/>
            <a:br/>
            <a:r>
              <a:t>• Feature Reuse: Low-level features (edges, color gradients, corner detections) and mid-level textures (leaf veins, cellular patterns) are pre-learned.</a:t>
            </a:r>
            <a:br/>
            <a:br/>
            <a:r>
              <a:t>• Initial Frozen Weights: Backbone weights are locked to prevent gradient degradation during initial epochs.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2: Custom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Input Layer: 224 × 224 × 3 RGB Leaf Matrix.</a:t>
            </a:r>
            <a:br/>
            <a:br/>
            <a:r>
              <a:t>• GlobalAveragePooling2D: Replaces heavy Flatten layers, converting spatial maps into a compact 1D vector while preventing spatial overfitting.</a:t>
            </a:r>
            <a:br/>
            <a:br/>
            <a:r>
              <a:t>• Dropout Layer (0.20): Deactivates 20% of neurons randomly during training to enforce feature robustness.</a:t>
            </a:r>
            <a:br/>
            <a:br/>
            <a:r>
              <a:t>• Dense Layer (38 Units, Softmax): Produces normalized probability distribution.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Step 3: Optimization &amp; Tuning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F3D0"/>
                </a:solidFill>
              </a:defRPr>
            </a:pPr>
            <a:r>
              <a:t>• Optimizer: Adam (Adaptive Moment Estimation) with learning rate η = 1e-4.</a:t>
            </a:r>
            <a:br/>
            <a:br/>
            <a:r>
              <a:t>• Loss Metric: Categorical Cross-Entropy across 38 mutually exclusive disease categories.</a:t>
            </a:r>
            <a:br/>
            <a:br/>
            <a:r>
              <a:t>• Fine-Tuning Phase: Top convolutional layers unfrozen at lower learning rate to align feature maps with leaf pathology nuances.</a:t>
            </a:r>
            <a:br/>
            <a:br/>
            <a:r>
              <a:t>• Result: Fast convergence in only 10 epochs.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ARCHITECTURE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End-to-End Real-Time Diagnostic Pipeline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From leaf image upload to diagnostic output in under 150 milliseconds.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237744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Image Capture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User snaps or uploads leaf image (JPG/PNG) via web UI or smartphone camera.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9856" y="1645920"/>
            <a:ext cx="2468880" cy="237744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18105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Preprocessing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57016" y="2194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Image converted to RGB, resized to 224x224, normalized to float32 tensor.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2" y="1645920"/>
            <a:ext cx="2468880" cy="237744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8105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3. Neural Inference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2194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MobileNetV2 cached in RAM executes feed-forward inference (&lt;90ms on CPU).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96528" y="1645920"/>
            <a:ext cx="2468880" cy="2377440"/>
          </a:xfrm>
          <a:prstGeom prst="roundRect">
            <a:avLst/>
          </a:prstGeom>
          <a:solidFill>
            <a:srgbClr val="102D1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79408" y="181051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4. Diagnosis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33688" y="2194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Softmax argmax maps index to disease label &amp; displays confidence percentage.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297680"/>
            <a:ext cx="10728655" cy="182880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462272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Inference Latency Breakdown (Benchmark on Consumer CPU)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754880"/>
            <a:ext cx="10362895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7F3D0"/>
                </a:solidFill>
              </a:defRPr>
            </a:pPr>
            <a:r>
              <a:t>• Image I/O &amp; Resizing (PIL RGB 224×224):  ~6 ms</a:t>
            </a:r>
            <a:br/>
            <a:r>
              <a:t>• Tensor Conversion &amp; Rescaling (NumPy):    ~3 ms</a:t>
            </a:r>
            <a:br/>
            <a:r>
              <a:t>• MobileNetV2 Feed-Forward (TensorFlow/CPU): ~85 ms  (GPU: ~12 ms)</a:t>
            </a:r>
            <a:br/>
            <a:r>
              <a:t>• Softmax Argmax &amp; Web Rendering (Streamlit): ~14 ms</a:t>
            </a:r>
            <a:br/>
            <a:r>
              <a:t>⏱️ TOTAL ROUND-TRIP LATENCY: ~108 ms (Instantaneous user response!)</a:t>
            </a:r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SOFTWARE ENGINEERING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Interactive Web Dashboard &amp; 1-Click Windows Launcher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Robust zero-friction user experience with automated environment resolution.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Streamlit Web UI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1. Reactive Multi-Page Interface:</a:t>
            </a:r>
            <a:br/>
            <a:r>
              <a:t>• Home: Project introduction, instructions, and interactive guide.</a:t>
            </a:r>
            <a:br/>
            <a:r>
              <a:t>• About: Dataset taxonomy, species distribution, and technical specs.</a:t>
            </a:r>
            <a:br/>
            <a:r>
              <a:t>• Disease Recognition: Drag-and-drop leaf image testing.</a:t>
            </a:r>
            <a:br/>
            <a:br/>
            <a:r>
              <a:t>2. Performance &amp; Reliability Enhancements:</a:t>
            </a:r>
            <a:br/>
            <a:r>
              <a:t>• @st.cache_resource: Eliminates redundant disk I/O; model stays loaded in RAM.</a:t>
            </a:r>
            <a:br/>
            <a:r>
              <a:t>• Dynamic Shape Detection: Automatically handles both 224x224 (MobileNetV2) and 128x128 formats.</a:t>
            </a:r>
            <a:br/>
            <a:r>
              <a:t>• Human-Friendly Formatting: Converts raw dataset strings (e.g. Tomato___Early_blight) into clean text: 'Tomato - Early Blight'.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4225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1051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The 1-Click Launcher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F3D0"/>
                </a:solidFill>
              </a:defRPr>
            </a:pPr>
            <a:r>
              <a:t>1. The run.bat &amp; setup.bat Orchestrator:</a:t>
            </a:r>
            <a:br/>
            <a:r>
              <a:t>• Users don't need to know terminal commands—just double-click run.bat!</a:t>
            </a:r>
            <a:br/>
            <a:br/>
            <a:r>
              <a:t>2. Intelligent 64-Bit Environment Verification:</a:t>
            </a:r>
            <a:br/>
            <a:r>
              <a:t>• Detects if user accidentally has 32-bit Python installed (which breaks TensorFlow) and displays an instant step-by-step fix guide.</a:t>
            </a:r>
            <a:br/>
            <a:br/>
            <a:r>
              <a:t>3. Multi-Tier Package Resolution:</a:t>
            </a:r>
            <a:br/>
            <a:r>
              <a:t>• Automatically upgrades pip, installs base dependencies, and gracefully resolves TensorFlow via CPU or pre-release wheels.</a:t>
            </a:r>
            <a:br/>
            <a:br/>
            <a:r>
              <a:t>4. Self-Contained Model Weights:</a:t>
            </a:r>
            <a:br/>
            <a:r>
              <a:t>• Pre-trained MobileNetV2 model is directly bundled in git—no broken download links!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EMPIRICAL VALIDATION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Model Performance &amp; Real-World Test Results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Rigorous evaluation across 38 classes demonstrating near-perfect diagnostic confidence.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48640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Training &amp; Validation Convergence</a:t>
            </a:r>
          </a:p>
        </p:txBody>
      </p:sp>
      <p:pic>
        <p:nvPicPr>
          <p:cNvPr id="6" name="Picture 5" descr="chart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94560"/>
            <a:ext cx="5120640" cy="3566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492240" y="1645920"/>
            <a:ext cx="496793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810512"/>
            <a:ext cx="460217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Real-World Verification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219456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🧪 Verification Results on Sample Leaves:</a:t>
            </a:r>
            <a:br/>
            <a:br/>
            <a:r>
              <a:t>• Apple Cedar Rust:          100.00% Confidence ✅</a:t>
            </a:r>
            <a:br/>
            <a:r>
              <a:t>• Apple Healthy:              100.00% Confidence ✅</a:t>
            </a:r>
            <a:br/>
            <a:r>
              <a:t>• Tomato Early Blight:        100.00% Confidence ✅</a:t>
            </a:r>
            <a:br/>
            <a:r>
              <a:t>• Corn Common Rust:           100.00% Confidence ✅</a:t>
            </a:r>
            <a:br/>
            <a:br/>
            <a:r>
              <a:t>📈 Global Benchmark Metrics:</a:t>
            </a:r>
            <a:br/>
            <a:r>
              <a:t>• Validation Accuracy: &gt; 98.4%</a:t>
            </a:r>
            <a:br/>
            <a:r>
              <a:t>• Overall Precision:   98.2%</a:t>
            </a:r>
            <a:br/>
            <a:r>
              <a:t>• Overall Recall:      98.1%</a:t>
            </a:r>
            <a:br/>
            <a:r>
              <a:t>• Macro F1-Score:      98.15%</a:t>
            </a:r>
            <a:br/>
            <a:br/>
            <a:r>
              <a:t>💡 Conclusion: The model exhibits minimal variance and zero severe overfitting due to Dropout (0.2) and Global Average Pooling.</a:t>
            </a:r>
          </a:p>
        </p:txBody>
      </p:sp>
    </p:spTree>
  </p:cSld>
  <p:clrMapOvr>
    <a:masterClrMapping/>
  </p:clrMapOvr>
  <p:transition spd="med">
    <p:zoom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PRACTICAL APPLICATIONS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Real-World Deployment &amp; Edge Computing Impact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How this technology scales from single workstations to nationwide agricultural infrastructure.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1. Mobile &amp; Drone Edge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• Autonomous Drones: Mount model on agricultural UAVs for automated aerial field scanning.</a:t>
            </a:r>
            <a:br/>
            <a:br/>
            <a:r>
              <a:t>• Raspberry Pi &amp; Edge Devices: Low 24 MB footprint allows running entirely offline in remote farmlands without internet connectivity.</a:t>
            </a:r>
            <a:br/>
            <a:br/>
            <a:r>
              <a:t>• Smartphone Apps: Easily ported to TensorFlow Lite (TFLite) for iOS and Android.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08576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2. Precision Agriculture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08576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Targeted Spraying: Prevent blanket pesticide spraying by isolating infected crop clusters.</a:t>
            </a:r>
            <a:br/>
            <a:br/>
            <a:r>
              <a:t>• Cost Reduction: Reduces chemical expenditure by 30-50% for rural farming communities.</a:t>
            </a:r>
            <a:br/>
            <a:br/>
            <a:r>
              <a:t>• Eco-Conservation: Protects beneficial pollinators and groundwater from chemical runoff.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02752" y="1810512"/>
            <a:ext cx="296265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3. Extension Workers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02752" y="2194560"/>
            <a:ext cx="296265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F3D0"/>
                </a:solidFill>
              </a:defRPr>
            </a:pPr>
            <a:r>
              <a:t>• Force Multiplier: Empowers non-expert field agents to deliver certified agronomic advice.</a:t>
            </a:r>
            <a:br/>
            <a:br/>
            <a:r>
              <a:t>• Historical Geo-Tagging: Track epidemiological disease outbreaks across districts and seasons.</a:t>
            </a:r>
            <a:br/>
            <a:br/>
            <a:r>
              <a:t>• Early Warning System: Alert neighboring farms before airborne spores cross farm borders.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ROADMAP &amp; CONCLUSION</a:t>
            </a:r>
          </a:p>
          <a:p>
            <a:pPr>
              <a:defRPr sz="2400" b="1">
                <a:solidFill>
                  <a:srgbClr val="FFFFFF"/>
                </a:solidFill>
              </a:defRPr>
            </a:pPr>
            <a:r>
              <a:t>Summary of Achievements &amp; Future Roadmap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Advancing sustainable agriculture through continuous artificial intelligence innovation.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03520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E3A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10512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Future Enhancements (Phase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1. Disease Severity Segmentation:</a:t>
            </a:r>
            <a:br/>
            <a:r>
              <a:t>• Incorporate U-Net or YOLOv8 to segment exact lesion area and calculate percentage of leaf damage.</a:t>
            </a:r>
            <a:br/>
            <a:br/>
            <a:r>
              <a:t>2. Prescription &amp; Treatment Advisory:</a:t>
            </a:r>
            <a:br/>
            <a:r>
              <a:t>• Integrate an LLM (such as Gemini or Llama) to prescribe organic vs chemical remedies based on severity.</a:t>
            </a:r>
            <a:br/>
            <a:br/>
            <a:r>
              <a:t>3. Multilingual Voice Interface:</a:t>
            </a:r>
            <a:br/>
            <a:r>
              <a:t>• Speech-to-speech interaction in regional languages (e.g. Tamil, Hindi, Spanish) for illiterate farmers.</a:t>
            </a:r>
            <a:br/>
            <a:br/>
            <a:r>
              <a:t>4. Multi-Modal Sensor Fusion:</a:t>
            </a:r>
            <a:br/>
            <a:r>
              <a:t>• Correlate leaf imagery with soil moisture, ambient humidity, and temperature sensor data.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50815" cy="4389120"/>
          </a:xfrm>
          <a:prstGeom prst="roundRect">
            <a:avLst/>
          </a:prstGeom>
          <a:solidFill>
            <a:srgbClr val="121E18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810512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34D399"/>
                </a:solidFill>
              </a:defRPr>
            </a:pPr>
            <a:r>
              <a:t>Conclusion &amp; Acknowledgments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A7F3D0"/>
                </a:solidFill>
              </a:defRPr>
            </a:pPr>
            <a:r>
              <a:t>🌱 Key Project Takeaways:</a:t>
            </a:r>
            <a:br/>
            <a:r>
              <a:t>• Successfully modernized plant pathology diagnosis with MobileNetV2.</a:t>
            </a:r>
            <a:br/>
            <a:r>
              <a:t>• Reduced model footprint by 73% (24 MB) while maintaining 98%+ validation accuracy.</a:t>
            </a:r>
            <a:br/>
            <a:r>
              <a:t>• Engineered a turnkey 1-click launcher and intuitive Streamlit dashboard.</a:t>
            </a:r>
            <a:br/>
            <a:br/>
            <a:r>
              <a:t>🔗 GitHub Repository:</a:t>
            </a:r>
            <a:br/>
            <a:r>
              <a:t>https://github.com/Karthicknaruto/new-one</a:t>
            </a:r>
            <a:br/>
            <a:br/>
            <a:r>
              <a:t>🙏 Thank You!</a:t>
            </a:r>
            <a:br/>
            <a:r>
              <a:t>I welcome any questions, suggestions, or technical discussions from my teacher.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